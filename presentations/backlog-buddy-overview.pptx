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6957E8"/>
          </a:solidFill>
          <a:ln>
            <a:solidFill>
              <a:srgbClr val="69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40080"/>
            <a:ext cx="28346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B8B0FF"/>
                </a:solidFill>
                <a:latin typeface="Aptos"/>
              </a:rPr>
              <a:t>BACKLOG 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76656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Prepare smart.</a:t>
            </a:r>
            <a:br/>
            <a:r>
              <a:t>Make your comeback.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73552"/>
            <a:ext cx="59436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0">
                <a:solidFill>
                  <a:srgbClr val="C6CCDC"/>
                </a:solidFill>
                <a:latin typeface="Aptos"/>
              </a:rPr>
              <a:t>A focused engineering backlog preparation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041648"/>
            <a:ext cx="1325880" cy="329184"/>
          </a:xfrm>
          <a:prstGeom prst="roundRect">
            <a:avLst>
              <a:gd name="adj" fmla="val 12000"/>
            </a:avLst>
          </a:prstGeom>
          <a:solidFill>
            <a:srgbClr val="313B67"/>
          </a:solidFill>
          <a:ln>
            <a:solidFill>
              <a:srgbClr val="31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041648"/>
            <a:ext cx="1325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D7D3FF"/>
                </a:solidFill>
                <a:latin typeface="Aptos"/>
              </a:rPr>
              <a:t>SUBJECT-WISE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4041648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313B67"/>
          </a:solidFill>
          <a:ln>
            <a:solidFill>
              <a:srgbClr val="31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4041648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D7D3FF"/>
                </a:solidFill>
                <a:latin typeface="Aptos"/>
              </a:rPr>
              <a:t>MOBILE-FIRST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4041648"/>
            <a:ext cx="1554480" cy="329184"/>
          </a:xfrm>
          <a:prstGeom prst="roundRect">
            <a:avLst>
              <a:gd name="adj" fmla="val 12000"/>
            </a:avLst>
          </a:prstGeom>
          <a:solidFill>
            <a:srgbClr val="313B67"/>
          </a:solidFill>
          <a:ln>
            <a:solidFill>
              <a:srgbClr val="31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4041648"/>
            <a:ext cx="15544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D7D3FF"/>
                </a:solidFill>
                <a:latin typeface="Aptos"/>
              </a:rPr>
              <a:t>STUDENT-FRIENDLY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960120"/>
            <a:ext cx="3611880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6448" y="1298448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FFF1CC"/>
          </a:solidFill>
          <a:ln>
            <a:solidFill>
              <a:srgbClr val="FFF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298448"/>
            <a:ext cx="9601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906118"/>
                </a:solidFill>
                <a:latin typeface="Aptos"/>
              </a:rPr>
              <a:t>NEXT EXAM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783080"/>
            <a:ext cx="27889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8233B"/>
                </a:solidFill>
                <a:latin typeface="Aptos"/>
              </a:rPr>
              <a:t>Database Management</a:t>
            </a:r>
            <a:br/>
            <a:r>
              <a:t>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743200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667186"/>
                </a:solidFill>
                <a:latin typeface="Aptos"/>
              </a:rPr>
              <a:t>Preparation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2743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100" b="1">
                <a:solidFill>
                  <a:srgbClr val="6957E8"/>
                </a:solidFill>
                <a:latin typeface="Aptos"/>
              </a:rPr>
              <a:t>68%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3136392"/>
            <a:ext cx="2880360" cy="100584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6448" y="3136392"/>
            <a:ext cx="1956816" cy="100584"/>
          </a:xfrm>
          <a:prstGeom prst="roundRect">
            <a:avLst>
              <a:gd name="adj" fmla="val 12000"/>
            </a:avLst>
          </a:prstGeom>
          <a:solidFill>
            <a:srgbClr val="6957E8"/>
          </a:solidFill>
          <a:ln>
            <a:solidFill>
              <a:srgbClr val="69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730752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8233B"/>
                </a:solidFill>
                <a:latin typeface="Aptos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050791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186"/>
                </a:solidFill>
                <a:latin typeface="Aptos"/>
              </a:rPr>
              <a:t>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730752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8233B"/>
                </a:solidFill>
                <a:latin typeface="Apto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050791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186"/>
                </a:solidFill>
                <a:latin typeface="Aptos"/>
              </a:rPr>
              <a:t>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3730752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8233B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4050791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186"/>
                </a:solidFill>
                <a:latin typeface="Aptos"/>
              </a:rPr>
              <a:t>Units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4736592"/>
            <a:ext cx="2880360" cy="512064"/>
          </a:xfrm>
          <a:prstGeom prst="roundRect">
            <a:avLst>
              <a:gd name="adj" fmla="val 12000"/>
            </a:avLst>
          </a:prstGeom>
          <a:solidFill>
            <a:srgbClr val="202A4F"/>
          </a:solidFill>
          <a:ln>
            <a:solidFill>
              <a:srgbClr val="20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4736592"/>
            <a:ext cx="2880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CONTINUE PREPARING 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8BECD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B8BEC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The problem students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949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0">
                <a:solidFill>
                  <a:srgbClr val="667186"/>
                </a:solidFill>
                <a:latin typeface="Aptos"/>
              </a:rPr>
              <a:t>Backlog preparation is often fragmented, stressful and difficult to organize.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38144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523744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6957E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18233B"/>
                </a:solidFill>
                <a:latin typeface="Aptos"/>
              </a:rPr>
              <a:t>Resources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22191"/>
            <a:ext cx="278892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667186"/>
                </a:solidFill>
                <a:latin typeface="Aptos"/>
              </a:rPr>
              <a:t>Students search across groups, drives and websites.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240280"/>
            <a:ext cx="3438144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2523744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FE8E3"/>
          </a:solidFill>
          <a:ln>
            <a:solidFill>
              <a:srgbClr val="FF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523744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D25B4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31012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18233B"/>
                </a:solidFill>
                <a:latin typeface="Aptos"/>
              </a:rPr>
              <a:t>No clear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822191"/>
            <a:ext cx="278892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667186"/>
                </a:solidFill>
                <a:latin typeface="Aptos"/>
              </a:rPr>
              <a:t>Important topics and repeated patterns are hard to spot.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240280"/>
            <a:ext cx="3438144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7615" y="2523744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523744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331012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18233B"/>
                </a:solidFill>
                <a:latin typeface="Aptos"/>
              </a:rPr>
              <a:t>Limited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3822191"/>
            <a:ext cx="278892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667186"/>
                </a:solidFill>
                <a:latin typeface="Aptos"/>
              </a:rPr>
              <a:t>Progress, deadlines and revision plans stay disconnected.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One calm place to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6809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0">
                <a:solidFill>
                  <a:srgbClr val="667186"/>
                </a:solidFill>
                <a:latin typeface="Aptos"/>
              </a:rPr>
              <a:t>Backlog Buddy organizes preparation around the student’s actual curriculum.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957E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233B"/>
                </a:solidFill>
                <a:latin typeface="Aptos"/>
              </a:rP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66718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9424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957E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233B"/>
                </a:solidFill>
                <a:latin typeface="Aptos"/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66718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8768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7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957E8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233B"/>
                </a:solidFill>
                <a:latin typeface="Aptos"/>
              </a:rPr>
              <a:t>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66718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8112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957E8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4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233B"/>
                </a:solidFill>
                <a:latin typeface="Aptos"/>
              </a:rPr>
              <a:t>Regulation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66718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8896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957E8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233B"/>
                </a:solidFill>
                <a:latin typeface="Aptos"/>
              </a:rPr>
              <a:t>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66718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957E8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233B"/>
                </a:solidFill>
                <a:latin typeface="Aptos"/>
              </a:rPr>
              <a:t>Semester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667186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96144" y="2148840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6957E8"/>
          </a:solidFill>
          <a:ln>
            <a:solidFill>
              <a:srgbClr val="69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87584" y="2276856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43616" y="2185416"/>
            <a:ext cx="914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Subject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429000"/>
            <a:ext cx="10899648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730752"/>
            <a:ext cx="1024128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6957E8"/>
                </a:solidFill>
                <a:latin typeface="Aptos"/>
              </a:rPr>
              <a:t>Personalized results  </a:t>
            </a:r>
            <a:r>
              <a:rPr sz="1700">
                <a:solidFill>
                  <a:srgbClr val="18233B"/>
                </a:solidFill>
                <a:latin typeface="Aptos"/>
              </a:rPr>
              <a:t>Only the right subjects, units and resources.  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1F9469"/>
                </a:solidFill>
                <a:latin typeface="Aptos"/>
              </a:rPr>
              <a:t>Faster discovery  </a:t>
            </a:r>
            <a:r>
              <a:rPr sz="1700">
                <a:solidFill>
                  <a:srgbClr val="18233B"/>
                </a:solidFill>
                <a:latin typeface="Aptos"/>
              </a:rPr>
              <a:t>Search questions, topics, papers and notes.  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D25B42"/>
                </a:solidFill>
                <a:latin typeface="Aptos"/>
              </a:rPr>
              <a:t>Actionable preparation  </a:t>
            </a:r>
            <a:r>
              <a:rPr sz="1700">
                <a:solidFill>
                  <a:srgbClr val="18233B"/>
                </a:solidFill>
                <a:latin typeface="Aptos"/>
              </a:rPr>
              <a:t>Practice, plan, save and track progress.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Everything needed for focused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38144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4EFFF"/>
          </a:solidFill>
          <a:ln>
            <a:solidFill>
              <a:srgbClr val="E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3170BB"/>
                </a:solidFill>
                <a:latin typeface="Aptos"/>
              </a:rPr>
              <a:t>PQ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645920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18233B"/>
                </a:solidFill>
                <a:latin typeface="Aptos"/>
              </a:rPr>
              <a:t>Previous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Searchable, filterable and license-aware.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38144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2" y="1645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E8E3"/>
          </a:solidFill>
          <a:ln>
            <a:solidFill>
              <a:srgbClr val="FF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4592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D25B42"/>
                </a:solidFill>
                <a:latin typeface="Aptos"/>
              </a:rPr>
              <a:t>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1645920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18233B"/>
                </a:solidFill>
                <a:latin typeface="Aptos"/>
              </a:rPr>
              <a:t>Important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5000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Organized by unit, marks and frequency.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38144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30183" y="1645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64592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1645920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18233B"/>
                </a:solidFill>
                <a:latin typeface="Aptos"/>
              </a:rPr>
              <a:t>Model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35000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Original downloadable practice PDFs.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438144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8862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F1CC"/>
          </a:solidFill>
          <a:ln>
            <a:solidFill>
              <a:srgbClr val="FFF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A26F16"/>
                </a:solidFill>
                <a:latin typeface="Aptos"/>
              </a:rPr>
              <a:t>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886200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18233B"/>
                </a:solidFill>
                <a:latin typeface="Aptos"/>
              </a:rPr>
              <a:t>Syllabus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Unit structure and preparation scope.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657600"/>
            <a:ext cx="3438144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9432" y="38862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88620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6957E8"/>
                </a:solidFill>
                <a:latin typeface="Aptos"/>
              </a:rPr>
              <a:t>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3886200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18233B"/>
                </a:solidFill>
                <a:latin typeface="Aptos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59028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MCQs, explanations, timers and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657600"/>
            <a:ext cx="3438144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30183" y="38862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4EFFF"/>
          </a:solidFill>
          <a:ln>
            <a:solidFill>
              <a:srgbClr val="E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388620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3170BB"/>
                </a:solidFill>
                <a:latin typeface="Aptos"/>
              </a:rPr>
              <a:t>PL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3886200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18233B"/>
                </a:solidFill>
                <a:latin typeface="Aptos"/>
              </a:rPr>
              <a:t>Study Planner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459028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Balanced timetable based on exam date.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Built around daily student habits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7665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62763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MY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" y="2084831"/>
            <a:ext cx="1828800" cy="1078992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212848"/>
            <a:ext cx="1508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8233B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624328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186"/>
                </a:solidFill>
                <a:latin typeface="Aptos"/>
              </a:rPr>
              <a:t>My subjects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0944" y="2084831"/>
            <a:ext cx="1828800" cy="1078992"/>
          </a:xfrm>
          <a:prstGeom prst="roundRect">
            <a:avLst>
              <a:gd name="adj" fmla="val 12000"/>
            </a:avLst>
          </a:prstGeom>
          <a:solidFill>
            <a:srgbClr val="FFE8E3"/>
          </a:solidFill>
          <a:ln>
            <a:solidFill>
              <a:srgbClr val="FF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2212848"/>
            <a:ext cx="1508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8233B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624328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186"/>
                </a:solidFill>
                <a:latin typeface="Aptos"/>
              </a:rPr>
              <a:t>My backlogs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2084831"/>
            <a:ext cx="1828800" cy="1078992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212848"/>
            <a:ext cx="1508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8233B"/>
                </a:solidFill>
                <a:latin typeface="Aptos"/>
              </a:rP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624328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186"/>
                </a:solidFill>
                <a:latin typeface="Aptos"/>
              </a:rPr>
              <a:t>Practice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52958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67186"/>
                </a:solidFill>
                <a:latin typeface="Aptos"/>
              </a:rPr>
              <a:t>TODAY’S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867912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F9469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86791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8233B"/>
                </a:solidFill>
                <a:latin typeface="Aptos"/>
              </a:rPr>
              <a:t>DBMS ·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867912"/>
            <a:ext cx="868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667186"/>
                </a:solidFill>
                <a:latin typeface="Aptos"/>
              </a:rPr>
              <a:t>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3891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667186"/>
                </a:solidFill>
                <a:latin typeface="Aptos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389120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8233B"/>
                </a:solidFill>
                <a:latin typeface="Aptos"/>
              </a:rPr>
              <a:t>OS · Deadlocks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4389120"/>
            <a:ext cx="868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667186"/>
                </a:solidFill>
                <a:latin typeface="Aptos"/>
              </a:rPr>
              <a:t>Up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91032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667186"/>
                </a:solidFill>
                <a:latin typeface="Apto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910328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8233B"/>
                </a:solidFill>
                <a:latin typeface="Aptos"/>
              </a:rPr>
              <a:t>CN · Transport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4910328"/>
            <a:ext cx="868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667186"/>
                </a:solidFill>
                <a:latin typeface="Aptos"/>
              </a:rPr>
              <a:t>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49047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STUDENT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65960"/>
            <a:ext cx="3246120" cy="3200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6957E8"/>
                </a:solidFill>
                <a:latin typeface="Aptos"/>
              </a:rPr>
              <a:t>Save  </a:t>
            </a:r>
            <a:r>
              <a:rPr sz="1500">
                <a:solidFill>
                  <a:srgbClr val="18233B"/>
                </a:solidFill>
                <a:latin typeface="Aptos"/>
              </a:rPr>
              <a:t>Questions and complete filtered lists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9469"/>
                </a:solidFill>
                <a:latin typeface="Aptos"/>
              </a:rPr>
              <a:t>Track  </a:t>
            </a:r>
            <a:r>
              <a:rPr sz="1500">
                <a:solidFill>
                  <a:srgbClr val="18233B"/>
                </a:solidFill>
                <a:latin typeface="Aptos"/>
              </a:rPr>
              <a:t>Practice scores, history and progress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25B42"/>
                </a:solidFill>
                <a:latin typeface="Aptos"/>
              </a:rPr>
              <a:t>Plan  </a:t>
            </a:r>
            <a:r>
              <a:rPr sz="1500">
                <a:solidFill>
                  <a:srgbClr val="18233B"/>
                </a:solidFill>
                <a:latin typeface="Aptos"/>
              </a:rPr>
              <a:t>Daily study blocks and revision time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6957E8"/>
                </a:solidFill>
                <a:latin typeface="Aptos"/>
              </a:rPr>
              <a:t>Install  </a:t>
            </a:r>
            <a:r>
              <a:rPr sz="1500">
                <a:solidFill>
                  <a:srgbClr val="18233B"/>
                </a:solidFill>
                <a:latin typeface="Aptos"/>
              </a:rPr>
              <a:t>Use as a mobile app with offline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ACTIVE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Practice that explains, not just scores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498079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82496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82496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957E8"/>
                </a:solidFill>
                <a:latin typeface="Aptos"/>
              </a:rPr>
              <a:t>DBMS · UNIT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0992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667186"/>
                </a:solidFill>
                <a:latin typeface="Aptos"/>
              </a:rPr>
              <a:t>Question 1 of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635508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8233B"/>
                </a:solidFill>
                <a:latin typeface="Aptos"/>
              </a:rPr>
              <a:t>Which normal form removes partial dependency</a:t>
            </a:r>
            <a:br/>
            <a:r>
              <a:t>on a composite candidate key?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46120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F8F9FD"/>
          </a:solidFill>
          <a:ln>
            <a:solidFill>
              <a:srgbClr val="E1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2743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8233B"/>
                </a:solidFill>
                <a:latin typeface="Aptos"/>
              </a:rPr>
              <a:t>A. First Normal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3246120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1F9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3246120"/>
            <a:ext cx="2743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F9469"/>
                </a:solidFill>
                <a:latin typeface="Aptos"/>
              </a:rPr>
              <a:t>B. Second Normal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941063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F8F9FD"/>
          </a:solidFill>
          <a:ln>
            <a:solidFill>
              <a:srgbClr val="E1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41063"/>
            <a:ext cx="2743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8233B"/>
                </a:solidFill>
                <a:latin typeface="Aptos"/>
              </a:rPr>
              <a:t>C. Third Normal 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3941063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F8F9FD"/>
          </a:solidFill>
          <a:ln>
            <a:solidFill>
              <a:srgbClr val="E1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3941063"/>
            <a:ext cx="2743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8233B"/>
                </a:solidFill>
                <a:latin typeface="Aptos"/>
              </a:rPr>
              <a:t>D. Boyce–Codd Normal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864608"/>
            <a:ext cx="6693408" cy="640080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65192"/>
            <a:ext cx="6309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8233B"/>
                </a:solidFill>
                <a:latin typeface="Aptos"/>
              </a:rPr>
              <a:t>Why?  2NF removes partial dependencies of non-prime attributes.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50876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SMART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993392"/>
            <a:ext cx="2743200" cy="33375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6957E8"/>
                </a:solidFill>
                <a:latin typeface="Aptos"/>
              </a:rPr>
              <a:t>Choose  </a:t>
            </a:r>
            <a:r>
              <a:rPr sz="1400">
                <a:solidFill>
                  <a:srgbClr val="18233B"/>
                </a:solidFill>
                <a:latin typeface="Aptos"/>
              </a:rPr>
              <a:t>DBMS, OS or Computer Networks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25B42"/>
                </a:solidFill>
                <a:latin typeface="Aptos"/>
              </a:rPr>
              <a:t>Focus  </a:t>
            </a:r>
            <a:r>
              <a:rPr sz="1400">
                <a:solidFill>
                  <a:srgbClr val="18233B"/>
                </a:solidFill>
                <a:latin typeface="Aptos"/>
              </a:rPr>
              <a:t>Optional timed mode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F9469"/>
                </a:solidFill>
                <a:latin typeface="Aptos"/>
              </a:rPr>
              <a:t>Learn  </a:t>
            </a:r>
            <a:r>
              <a:rPr sz="1400">
                <a:solidFill>
                  <a:srgbClr val="18233B"/>
                </a:solidFill>
                <a:latin typeface="Aptos"/>
              </a:rPr>
              <a:t>Answer explanations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6957E8"/>
                </a:solidFill>
                <a:latin typeface="Aptos"/>
              </a:rPr>
              <a:t>Improve  </a:t>
            </a:r>
            <a:r>
              <a:rPr sz="1400">
                <a:solidFill>
                  <a:srgbClr val="18233B"/>
                </a:solidFill>
                <a:latin typeface="Aptos"/>
              </a:rPr>
              <a:t>Result history and score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CONTENT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Useful resources, handled responsibly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20640" cy="4389120"/>
          </a:xfrm>
          <a:prstGeom prst="roundRect">
            <a:avLst>
              <a:gd name="adj" fmla="val 12000"/>
            </a:avLst>
          </a:prstGeom>
          <a:solidFill>
            <a:srgbClr val="202A4F"/>
          </a:solidFill>
          <a:ln>
            <a:solidFill>
              <a:srgbClr val="20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800" b="1">
                <a:solidFill>
                  <a:srgbClr val="9C8FF5"/>
                </a:solidFill>
                <a:latin typeface="Aptos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160520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Important for preparation —</a:t>
            </a:r>
            <a:br/>
            <a:r>
              <a:t>never guaranteed to 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402336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0">
                <a:solidFill>
                  <a:srgbClr val="C6CCDC"/>
                </a:solidFill>
                <a:latin typeface="Aptos"/>
              </a:rPr>
              <a:t>Patterns help students prioritize.</a:t>
            </a:r>
            <a:br/>
            <a:r>
              <a:t>They do not predict examinations.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919472"/>
            <a:ext cx="1417320" cy="329184"/>
          </a:xfrm>
          <a:prstGeom prst="roundRect">
            <a:avLst>
              <a:gd name="adj" fmla="val 12000"/>
            </a:avLst>
          </a:prstGeom>
          <a:solidFill>
            <a:srgbClr val="313B67"/>
          </a:solidFill>
          <a:ln>
            <a:solidFill>
              <a:srgbClr val="31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14173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D7D3FF"/>
                </a:solidFill>
                <a:latin typeface="Aptos"/>
              </a:rPr>
              <a:t>HONEST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5087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08760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490472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8233B"/>
                </a:solidFill>
                <a:latin typeface="Aptos"/>
              </a:rPr>
              <a:t>Original model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82880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Created for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58775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58775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569464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8233B"/>
                </a:solidFill>
                <a:latin typeface="Aptos"/>
              </a:rPr>
              <a:t>Authorized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907792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Institution-provided or licensed.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3666744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6667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648456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8233B"/>
                </a:solidFill>
                <a:latin typeface="Aptos"/>
              </a:rPr>
              <a:t>Visible licensing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986783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Source and usage rights displayed.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4745736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74573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472744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8233B"/>
                </a:solidFill>
                <a:latin typeface="Aptos"/>
              </a:rPr>
              <a:t>Protected uploads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5065775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67186"/>
                </a:solidFill>
                <a:latin typeface="Aptos"/>
              </a:rPr>
              <a:t>Admin review before publishing.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A scalable, secure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5721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46504"/>
            <a:ext cx="603504" cy="603504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6957E8"/>
                </a:solidFill>
                <a:latin typeface="Aptos"/>
              </a:rP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1682496"/>
            <a:ext cx="3611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8233B"/>
                </a:solidFill>
                <a:latin typeface="Aptos"/>
              </a:rPr>
              <a:t>Responsive HTML, CSS &amp;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176272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667186"/>
                </a:solidFill>
                <a:latin typeface="Aptos"/>
              </a:rPr>
              <a:t>Fast, dependency-light and accessible.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417320"/>
            <a:ext cx="515721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37376" y="1746504"/>
            <a:ext cx="603504" cy="603504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746504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9469"/>
                </a:solidFill>
                <a:latin typeface="Aptos"/>
              </a:rPr>
              <a:t>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1682496"/>
            <a:ext cx="3611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8233B"/>
                </a:solidFill>
                <a:latin typeface="Aptos"/>
              </a:rPr>
              <a:t>Supabase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176272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667186"/>
                </a:solidFill>
                <a:latin typeface="Aptos"/>
              </a:rPr>
              <a:t>Normalized catalog and student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57015"/>
            <a:ext cx="515721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603504" cy="603504"/>
          </a:xfrm>
          <a:prstGeom prst="roundRect">
            <a:avLst>
              <a:gd name="adj" fmla="val 12000"/>
            </a:avLst>
          </a:prstGeom>
          <a:solidFill>
            <a:srgbClr val="FFE8E3"/>
          </a:solidFill>
          <a:ln>
            <a:solidFill>
              <a:srgbClr val="FF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D25B42"/>
                </a:solidFill>
                <a:latin typeface="Aptos"/>
              </a:rPr>
              <a:t>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3822191"/>
            <a:ext cx="3611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8233B"/>
                </a:solidFill>
                <a:latin typeface="Aptos"/>
              </a:rPr>
              <a:t>Supabase Auth + 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315968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667186"/>
                </a:solidFill>
                <a:latin typeface="Aptos"/>
              </a:rPr>
              <a:t>Role-aware security at the database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57015"/>
            <a:ext cx="515721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7376" y="3886200"/>
            <a:ext cx="603504" cy="603504"/>
          </a:xfrm>
          <a:prstGeom prst="roundRect">
            <a:avLst>
              <a:gd name="adj" fmla="val 12000"/>
            </a:avLst>
          </a:prstGeom>
          <a:solidFill>
            <a:srgbClr val="E4EFFF"/>
          </a:solidFill>
          <a:ln>
            <a:solidFill>
              <a:srgbClr val="E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886200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3170BB"/>
                </a:solidFill>
                <a:latin typeface="Aptos"/>
              </a:rPr>
              <a:t>PWA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3822191"/>
            <a:ext cx="3611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8233B"/>
                </a:solidFill>
                <a:latin typeface="Aptos"/>
              </a:rPr>
              <a:t>Service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315968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667186"/>
                </a:solidFill>
                <a:latin typeface="Aptos"/>
              </a:rPr>
              <a:t>Installable app and offline resource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6957E8"/>
                </a:solidFill>
                <a:latin typeface="Apto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18233B"/>
                </a:solidFill>
                <a:latin typeface="Aptos"/>
              </a:rPr>
              <a:t>Live, tested and ready to evolve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89964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746504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EBE8FF"/>
          </a:solidFill>
          <a:ln>
            <a:solidFill>
              <a:srgbClr val="E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1051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957E8"/>
                </a:solidFill>
                <a:latin typeface="Aptos"/>
              </a:rPr>
              <a:t>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1581912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8233B"/>
                </a:solidFill>
                <a:latin typeface="Aptos"/>
              </a:rPr>
              <a:t>Primary production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9202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957E8"/>
                </a:solidFill>
                <a:latin typeface="Aptos"/>
              </a:rPr>
              <a:t>backlog-buddy-tech-minds10.vercel.app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89964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3072384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DFF6ED"/>
          </a:solidFill>
          <a:ln>
            <a:solidFill>
              <a:srgbClr val="DF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72384"/>
            <a:ext cx="1051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9469"/>
                </a:solidFill>
                <a:latin typeface="Aptos"/>
              </a:rP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907792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8233B"/>
                </a:solidFill>
                <a:latin typeface="Aptos"/>
              </a:rPr>
              <a:t>Secondary live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324612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957E8"/>
                </a:solidFill>
                <a:latin typeface="Aptos"/>
              </a:rPr>
              <a:t>backlog-buddy-kc5k.onrender.com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89964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4398264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E4EFFF"/>
          </a:solidFill>
          <a:ln>
            <a:solidFill>
              <a:srgbClr val="E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98264"/>
            <a:ext cx="1051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3170BB"/>
                </a:solidFill>
                <a:latin typeface="Aptos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4233672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8233B"/>
                </a:solidFill>
                <a:latin typeface="Aptos"/>
              </a:rPr>
              <a:t>Source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457200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6957E8"/>
                </a:solidFill>
                <a:latin typeface="Aptos"/>
              </a:rPr>
              <a:t>github.com/sireeshareddykallam-beep/backlog-buddy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5955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667186"/>
                </a:solidFill>
                <a:latin typeface="Aptos"/>
              </a:rPr>
              <a:t>Next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522976"/>
            <a:ext cx="8503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8233B"/>
                </a:solidFill>
                <a:latin typeface="Aptos"/>
              </a:rPr>
              <a:t>More universities  •  Authorized paper uploads  •  Richer analytics  •  Personalized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667186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66718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B8B0FF"/>
                </a:solidFill>
                <a:latin typeface="Aptos"/>
              </a:rPr>
              <a:t>BACKLOG 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81381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 backlog is a chapter.</a:t>
            </a:r>
            <a:br/>
            <a:r>
              <a:t>Not the whole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67665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0">
                <a:solidFill>
                  <a:srgbClr val="C6CCDC"/>
                </a:solidFill>
                <a:latin typeface="Aptos"/>
              </a:rPr>
              <a:t>Help students organize, practice and make their comeback.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069080"/>
            <a:ext cx="3703320" cy="621792"/>
          </a:xfrm>
          <a:prstGeom prst="roundRect">
            <a:avLst>
              <a:gd name="adj" fmla="val 12000"/>
            </a:avLst>
          </a:prstGeom>
          <a:solidFill>
            <a:srgbClr val="6957E8"/>
          </a:solidFill>
          <a:ln>
            <a:solidFill>
              <a:srgbClr val="69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370332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OPEN THE LIVE WEBSITE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B8B0FF"/>
                </a:solidFill>
                <a:latin typeface="Aptos"/>
              </a:rPr>
              <a:t>backlog-buddy-tech-minds10.vercel.app</a:t>
            </a:r>
          </a:p>
        </p:txBody>
      </p:sp>
      <p:sp>
        <p:nvSpPr>
          <p:cNvPr id="8" name="Oval 7"/>
          <p:cNvSpPr/>
          <p:nvPr/>
        </p:nvSpPr>
        <p:spPr>
          <a:xfrm>
            <a:off x="8869680" y="914400"/>
            <a:ext cx="2194560" cy="2194560"/>
          </a:xfrm>
          <a:prstGeom prst="ellipse">
            <a:avLst/>
          </a:prstGeom>
          <a:solidFill>
            <a:srgbClr val="6957E8"/>
          </a:solidFill>
          <a:ln>
            <a:solidFill>
              <a:srgbClr val="69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29800" y="2423160"/>
            <a:ext cx="1234440" cy="1234440"/>
          </a:xfrm>
          <a:prstGeom prst="ellipse">
            <a:avLst/>
          </a:prstGeom>
          <a:solidFill>
            <a:srgbClr val="374578"/>
          </a:solidFill>
          <a:ln>
            <a:solidFill>
              <a:srgbClr val="37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56448" y="3493008"/>
            <a:ext cx="1874519" cy="1874519"/>
          </a:xfrm>
          <a:prstGeom prst="ellipse">
            <a:avLst/>
          </a:prstGeom>
          <a:solidFill>
            <a:srgbClr val="4B3EA3"/>
          </a:solidFill>
          <a:ln>
            <a:solidFill>
              <a:srgbClr val="4B3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914400"/>
            <a:ext cx="2194560" cy="2194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BB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8BECD"/>
                </a:solidFill>
                <a:latin typeface="Aptos"/>
              </a:rPr>
              <a:t>BACKLOG BUDDY  •  PREPARE SMART. CLEAR YOUR BACKLOGS.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B8BEC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